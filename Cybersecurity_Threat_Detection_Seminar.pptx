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3"/>
  </p:notesMasterIdLst>
  <p:sldIdLst>
    <p:sldId id="287" r:id="rId2"/>
    <p:sldId id="262" r:id="rId3"/>
    <p:sldId id="261" r:id="rId4"/>
    <p:sldId id="263" r:id="rId5"/>
    <p:sldId id="289" r:id="rId6"/>
    <p:sldId id="302" r:id="rId20"/>
    <p:sldId id="292" r:id="rId7"/>
    <p:sldId id="294" r:id="rId8"/>
    <p:sldId id="303" r:id="rId21"/>
    <p:sldId id="290" r:id="rId9"/>
    <p:sldId id="300" r:id="rId10"/>
    <p:sldId id="301" r:id="rId11"/>
    <p:sldId id="279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7A6D4-ACCC-4529-93A1-D6BFBCF13657}" v="11" dt="2025-10-10T05:25:30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yan Dusane" userId="da05eb1dd148ee6f" providerId="LiveId" clId="{0AB4BAD0-9690-4723-AB50-FAED25D3A719}"/>
    <pc:docChg chg="undo custSel modSld">
      <pc:chgData name="Udayan Dusane" userId="da05eb1dd148ee6f" providerId="LiveId" clId="{0AB4BAD0-9690-4723-AB50-FAED25D3A719}" dt="2025-10-10T05:28:52.168" v="238" actId="20577"/>
      <pc:docMkLst>
        <pc:docMk/>
      </pc:docMkLst>
      <pc:sldChg chg="addSp modSp mod">
        <pc:chgData name="Udayan Dusane" userId="da05eb1dd148ee6f" providerId="LiveId" clId="{0AB4BAD0-9690-4723-AB50-FAED25D3A719}" dt="2025-10-10T05:11:29.774" v="35" actId="313"/>
        <pc:sldMkLst>
          <pc:docMk/>
          <pc:sldMk cId="0" sldId="261"/>
        </pc:sldMkLst>
        <pc:spChg chg="mod">
          <ac:chgData name="Udayan Dusane" userId="da05eb1dd148ee6f" providerId="LiveId" clId="{0AB4BAD0-9690-4723-AB50-FAED25D3A719}" dt="2025-10-10T05:11:29.774" v="35" actId="313"/>
          <ac:spMkLst>
            <pc:docMk/>
            <pc:sldMk cId="0" sldId="261"/>
            <ac:spMk id="6" creationId="{EBA49497-2B8F-F3EE-C3F5-BB8E75CD2610}"/>
          </ac:spMkLst>
        </pc:spChg>
        <pc:picChg chg="add mod">
          <ac:chgData name="Udayan Dusane" userId="da05eb1dd148ee6f" providerId="LiveId" clId="{0AB4BAD0-9690-4723-AB50-FAED25D3A719}" dt="2025-10-10T05:11:12.693" v="32" actId="14100"/>
          <ac:picMkLst>
            <pc:docMk/>
            <pc:sldMk cId="0" sldId="261"/>
            <ac:picMk id="3" creationId="{F09F973C-7FE2-2266-6F7A-C5FBBF8497B8}"/>
          </ac:picMkLst>
        </pc:picChg>
      </pc:sldChg>
      <pc:sldChg chg="addSp modSp mod">
        <pc:chgData name="Udayan Dusane" userId="da05eb1dd148ee6f" providerId="LiveId" clId="{0AB4BAD0-9690-4723-AB50-FAED25D3A719}" dt="2025-10-10T05:08:40.477" v="13" actId="14100"/>
        <pc:sldMkLst>
          <pc:docMk/>
          <pc:sldMk cId="0" sldId="262"/>
        </pc:sldMkLst>
        <pc:spChg chg="mod">
          <ac:chgData name="Udayan Dusane" userId="da05eb1dd148ee6f" providerId="LiveId" clId="{0AB4BAD0-9690-4723-AB50-FAED25D3A719}" dt="2025-10-10T05:07:51.511" v="12" actId="14100"/>
          <ac:spMkLst>
            <pc:docMk/>
            <pc:sldMk cId="0" sldId="262"/>
            <ac:spMk id="2" creationId="{00000000-0000-0000-0000-000000000000}"/>
          </ac:spMkLst>
        </pc:spChg>
        <pc:picChg chg="add mod">
          <ac:chgData name="Udayan Dusane" userId="da05eb1dd148ee6f" providerId="LiveId" clId="{0AB4BAD0-9690-4723-AB50-FAED25D3A719}" dt="2025-10-10T05:08:40.477" v="13" actId="14100"/>
          <ac:picMkLst>
            <pc:docMk/>
            <pc:sldMk cId="0" sldId="262"/>
            <ac:picMk id="4" creationId="{6F31DBF9-5AA9-5896-B665-DFFAFC0B56CB}"/>
          </ac:picMkLst>
        </pc:picChg>
      </pc:sldChg>
      <pc:sldChg chg="addSp modSp mod">
        <pc:chgData name="Udayan Dusane" userId="da05eb1dd148ee6f" providerId="LiveId" clId="{0AB4BAD0-9690-4723-AB50-FAED25D3A719}" dt="2025-10-10T05:15:26.269" v="82" actId="14100"/>
        <pc:sldMkLst>
          <pc:docMk/>
          <pc:sldMk cId="0" sldId="263"/>
        </pc:sldMkLst>
        <pc:spChg chg="mod">
          <ac:chgData name="Udayan Dusane" userId="da05eb1dd148ee6f" providerId="LiveId" clId="{0AB4BAD0-9690-4723-AB50-FAED25D3A719}" dt="2025-10-10T05:15:07.122" v="78" actId="20577"/>
          <ac:spMkLst>
            <pc:docMk/>
            <pc:sldMk cId="0" sldId="263"/>
            <ac:spMk id="4" creationId="{00000000-0000-0000-0000-000000000000}"/>
          </ac:spMkLst>
        </pc:spChg>
        <pc:picChg chg="add mod">
          <ac:chgData name="Udayan Dusane" userId="da05eb1dd148ee6f" providerId="LiveId" clId="{0AB4BAD0-9690-4723-AB50-FAED25D3A719}" dt="2025-10-10T05:15:26.269" v="82" actId="14100"/>
          <ac:picMkLst>
            <pc:docMk/>
            <pc:sldMk cId="0" sldId="263"/>
            <ac:picMk id="6" creationId="{C55633B8-0617-A76D-38FE-40E8D12CE20A}"/>
          </ac:picMkLst>
        </pc:picChg>
      </pc:sldChg>
      <pc:sldChg chg="addSp modSp mod">
        <pc:chgData name="Udayan Dusane" userId="da05eb1dd148ee6f" providerId="LiveId" clId="{0AB4BAD0-9690-4723-AB50-FAED25D3A719}" dt="2025-10-10T05:20:24.298" v="177" actId="1076"/>
        <pc:sldMkLst>
          <pc:docMk/>
          <pc:sldMk cId="0" sldId="289"/>
        </pc:sldMkLst>
        <pc:spChg chg="mod">
          <ac:chgData name="Udayan Dusane" userId="da05eb1dd148ee6f" providerId="LiveId" clId="{0AB4BAD0-9690-4723-AB50-FAED25D3A719}" dt="2025-10-10T05:20:17.662" v="176" actId="20577"/>
          <ac:spMkLst>
            <pc:docMk/>
            <pc:sldMk cId="0" sldId="289"/>
            <ac:spMk id="2" creationId="{00000000-0000-0000-0000-000000000000}"/>
          </ac:spMkLst>
        </pc:spChg>
        <pc:picChg chg="add mod">
          <ac:chgData name="Udayan Dusane" userId="da05eb1dd148ee6f" providerId="LiveId" clId="{0AB4BAD0-9690-4723-AB50-FAED25D3A719}" dt="2025-10-10T05:20:24.298" v="177" actId="1076"/>
          <ac:picMkLst>
            <pc:docMk/>
            <pc:sldMk cId="0" sldId="289"/>
            <ac:picMk id="5" creationId="{B7373609-8B81-1FAF-E12F-0471BC51573D}"/>
          </ac:picMkLst>
        </pc:picChg>
      </pc:sldChg>
      <pc:sldChg chg="addSp modSp mod">
        <pc:chgData name="Udayan Dusane" userId="da05eb1dd148ee6f" providerId="LiveId" clId="{0AB4BAD0-9690-4723-AB50-FAED25D3A719}" dt="2025-10-10T05:28:52.168" v="238" actId="20577"/>
        <pc:sldMkLst>
          <pc:docMk/>
          <pc:sldMk cId="0" sldId="290"/>
        </pc:sldMkLst>
        <pc:spChg chg="mod">
          <ac:chgData name="Udayan Dusane" userId="da05eb1dd148ee6f" providerId="LiveId" clId="{0AB4BAD0-9690-4723-AB50-FAED25D3A719}" dt="2025-10-10T05:28:52.168" v="238" actId="20577"/>
          <ac:spMkLst>
            <pc:docMk/>
            <pc:sldMk cId="0" sldId="290"/>
            <ac:spMk id="2" creationId="{00000000-0000-0000-0000-000000000000}"/>
          </ac:spMkLst>
        </pc:spChg>
        <pc:picChg chg="add mod">
          <ac:chgData name="Udayan Dusane" userId="da05eb1dd148ee6f" providerId="LiveId" clId="{0AB4BAD0-9690-4723-AB50-FAED25D3A719}" dt="2025-10-10T05:26:38.011" v="207" actId="14100"/>
          <ac:picMkLst>
            <pc:docMk/>
            <pc:sldMk cId="0" sldId="290"/>
            <ac:picMk id="5" creationId="{A95341A9-B4B7-F626-DC28-6B7827A1E6E4}"/>
          </ac:picMkLst>
        </pc:picChg>
      </pc:sldChg>
      <pc:sldChg chg="addSp modSp mod">
        <pc:chgData name="Udayan Dusane" userId="da05eb1dd148ee6f" providerId="LiveId" clId="{0AB4BAD0-9690-4723-AB50-FAED25D3A719}" dt="2025-10-10T05:22:32.810" v="186" actId="14100"/>
        <pc:sldMkLst>
          <pc:docMk/>
          <pc:sldMk cId="0" sldId="292"/>
        </pc:sldMkLst>
        <pc:picChg chg="add mod">
          <ac:chgData name="Udayan Dusane" userId="da05eb1dd148ee6f" providerId="LiveId" clId="{0AB4BAD0-9690-4723-AB50-FAED25D3A719}" dt="2025-10-10T05:22:32.810" v="186" actId="14100"/>
          <ac:picMkLst>
            <pc:docMk/>
            <pc:sldMk cId="0" sldId="292"/>
            <ac:picMk id="3" creationId="{247212E0-A1F4-61F0-73B7-E42EBCEB94B4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0B04F-2D1A-4F67-B741-D32049B9DA1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F4A1A-5A57-46CA-A76B-5E8DA80E8E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67777-ABF1-4F59-8543-F68660880D9E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D.D.Mondal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D4AE-496F-4522-B47A-A97F6057AAC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0E161-CEB1-4223-9464-821389F5EDD8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F7A73-1669-45F8-8A76-500EE6809F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37C87-6B55-4F22-99DE-C98509CA6693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Prof. D.D.Mondal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0D4AE-496F-4522-B47A-A97F6057AAC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156" y="0"/>
            <a:ext cx="1571844" cy="12479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" y="5705822"/>
            <a:ext cx="3571770" cy="6505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8485" y="4843482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Footlight MT Light" panose="0204060206030A020304" pitchFamily="18" charset="0"/>
              </a:rPr>
              <a:t>Guided By: </a:t>
            </a:r>
          </a:p>
          <a:p>
            <a:pPr algn="ctr"/>
            <a:r>
              <a:rPr lang="en-US" b="1" dirty="0">
                <a:latin typeface="Footlight MT Light" panose="0204060206030A020304" pitchFamily="18" charset="0"/>
              </a:rPr>
              <a:t>Prof. </a:t>
            </a:r>
            <a:r>
              <a:rPr lang="en-IN" b="1" dirty="0">
                <a:latin typeface="Footlight MT Light" panose="0204060206030A020304" pitchFamily="18" charset="0"/>
              </a:rPr>
              <a:t>Shirsagar Shubhangi</a:t>
            </a:r>
            <a:endParaRPr lang="en-IN" altLang="en-US" b="1" dirty="0">
              <a:latin typeface="Footlight MT Light" panose="0204060206030A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67442" y="413439"/>
            <a:ext cx="7576818" cy="132343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>
                <a:solidFill>
                  <a:srgbClr val="002060"/>
                </a:solidFill>
                <a:latin typeface="Footlight MT Light" panose="0204060206030A020304" pitchFamily="18" charset="0"/>
              </a:rPr>
              <a:t>Dr. D.Y.PATIL COLLEGE OF</a:t>
            </a:r>
          </a:p>
          <a:p>
            <a:pPr algn="ctr"/>
            <a:r>
              <a:rPr lang="en-US" sz="4000" b="1">
                <a:solidFill>
                  <a:srgbClr val="002060"/>
                </a:solidFill>
                <a:latin typeface="Footlight MT Light" panose="0204060206030A020304" pitchFamily="18" charset="0"/>
              </a:rPr>
              <a:t> ENGINEERING AND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81211" y="1720592"/>
            <a:ext cx="5629275" cy="4603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FF0000"/>
                </a:solidFill>
                <a:latin typeface="Footlight MT Light" panose="0204060206030A020304" pitchFamily="18" charset="0"/>
              </a:rPr>
              <a:t>DEPARTMENT OF </a:t>
            </a:r>
            <a:r>
              <a:rPr lang="en-IN" altLang="en-US" sz="2400">
                <a:solidFill>
                  <a:srgbClr val="FF0000"/>
                </a:solidFill>
                <a:latin typeface="Footlight MT Light" panose="0204060206030A020304" pitchFamily="18" charset="0"/>
              </a:rPr>
              <a:t>COMPUTER</a:t>
            </a:r>
            <a:r>
              <a:rPr lang="en-US" sz="2400">
                <a:solidFill>
                  <a:srgbClr val="FF0000"/>
                </a:solidFill>
                <a:latin typeface="Footlight MT Light" panose="0204060206030A020304" pitchFamily="18" charset="0"/>
              </a:rPr>
              <a:t>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7585" y="2136775"/>
            <a:ext cx="620649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0000"/>
                </a:solidFill>
                <a:latin typeface="Footlight MT Light" panose="0204060206030A020304" pitchFamily="18" charset="0"/>
              </a:rPr>
              <a:t>Dr. D. Y. Patil College of Engineering &amp; Innovation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17191" y="2531127"/>
            <a:ext cx="167731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olidFill>
                  <a:srgbClr val="FF0000"/>
                </a:solidFill>
                <a:latin typeface="Footlight MT Light" panose="0204060206030A020304" pitchFamily="18" charset="0"/>
              </a:rPr>
              <a:t>Talegaon, Pune </a:t>
            </a:r>
            <a:endParaRPr lang="en-US">
              <a:solidFill>
                <a:srgbClr val="FF0000"/>
              </a:solidFill>
              <a:latin typeface="Footlight MT Light" panose="0204060206030A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63192" y="2934949"/>
            <a:ext cx="1368425" cy="36830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[202</a:t>
            </a:r>
            <a:r>
              <a:rPr lang="en-IN" altLang="en-US"/>
              <a:t>6</a:t>
            </a:r>
            <a:r>
              <a:rPr lang="en-US"/>
              <a:t>-202</a:t>
            </a:r>
            <a:r>
              <a:rPr lang="en-IN" altLang="en-US"/>
              <a:t>7</a:t>
            </a:r>
            <a:r>
              <a:rPr lang="en-US"/>
              <a:t>] 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791" y="3429060"/>
            <a:ext cx="7937942" cy="123110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Footlight MT Light" panose="0204060206030A020304" pitchFamily="18" charset="0"/>
              </a:rPr>
              <a:t>A </a:t>
            </a:r>
            <a:r>
              <a:rPr lang="en-IN" altLang="en-US" dirty="0">
                <a:latin typeface="Footlight MT Light" panose="0204060206030A020304" pitchFamily="18" charset="0"/>
              </a:rPr>
              <a:t>Seminar</a:t>
            </a:r>
            <a:r>
              <a:rPr lang="en-US" dirty="0">
                <a:latin typeface="Footlight MT Light" panose="0204060206030A020304" pitchFamily="18" charset="0"/>
              </a:rPr>
              <a:t> </a:t>
            </a:r>
            <a:r>
              <a:rPr lang="en-IN" altLang="en-US" dirty="0">
                <a:latin typeface="Footlight MT Light" panose="0204060206030A020304" pitchFamily="18" charset="0"/>
              </a:rPr>
              <a:t>Presentation</a:t>
            </a:r>
            <a:r>
              <a:rPr lang="en-US" dirty="0">
                <a:latin typeface="Footlight MT Light" panose="0204060206030A020304" pitchFamily="18" charset="0"/>
              </a:rPr>
              <a:t> on</a:t>
            </a:r>
          </a:p>
          <a:p>
            <a:pPr algn="ctr"/>
            <a:r>
              <a:rPr lang="en-US" sz="2000" b="1" i="1" dirty="0"/>
              <a:t>“Cybersecurity Threat Detection”</a:t>
            </a:r>
            <a:endParaRPr lang="en-US" altLang="en-GB" b="1" dirty="0">
              <a:latin typeface="Footlight MT Light" panose="0204060206030A020304" pitchFamily="18" charset="0"/>
            </a:endParaRPr>
          </a:p>
          <a:p>
            <a:pPr algn="ctr"/>
            <a:r>
              <a:rPr lang="en-US" dirty="0">
                <a:latin typeface="Footlight MT Light" panose="0204060206030A020304" pitchFamily="18" charset="0"/>
              </a:rPr>
              <a:t>By:</a:t>
            </a:r>
          </a:p>
          <a:p>
            <a:pPr algn="ctr"/>
            <a:r>
              <a:rPr lang="en-US" dirty="0">
                <a:latin typeface="Footlight MT Light" panose="0204060206030A020304" pitchFamily="18" charset="0"/>
              </a:rPr>
              <a:t>    </a:t>
            </a:r>
            <a:r>
              <a:rPr lang="en-IN" dirty="0">
                <a:latin typeface="Footlight MT Light" panose="0204060206030A020304" pitchFamily="18" charset="0"/>
              </a:rPr>
              <a:t>Kalyani R. Darekar</a:t>
            </a:r>
            <a:r>
              <a:rPr lang="en-IN" altLang="en-US" dirty="0">
                <a:latin typeface="Footlight MT Light" panose="0204060206030A020304" pitchFamily="18" charset="0"/>
              </a:rPr>
              <a:t> TE A2 13142</a:t>
            </a:r>
          </a:p>
        </p:txBody>
      </p:sp>
      <p:pic>
        <p:nvPicPr>
          <p:cNvPr id="10" name="image1.jpeg" descr="New logo"/>
          <p:cNvPicPr/>
          <p:nvPr/>
        </p:nvPicPr>
        <p:blipFill>
          <a:blip r:embed="rId2"/>
          <a:srcRect l="9528" t="5519" r="6312" b="4535"/>
          <a:stretch>
            <a:fillRect/>
          </a:stretch>
        </p:blipFill>
        <p:spPr>
          <a:xfrm>
            <a:off x="10672446" y="0"/>
            <a:ext cx="1346200" cy="1511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7" y="5639612"/>
            <a:ext cx="3552070" cy="997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Introduction to Threat Detection</a:t>
            </a:r>
          </a:p>
        </p:txBody>
      </p:sp>
      <p:sp>
        <p:nvSpPr>
          <p:cNvPr id="102" name="Text Box"/>
          <p:cNvSpPr txBox="1"/>
          <p:nvPr/>
        </p:nvSpPr>
        <p:spPr>
          <a:xfrm>
            <a:off x="612140" y="1400000"/>
            <a:ext cx="6700000" cy="41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Cybersecurity threat detection identifies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malware, phishing, ransomware, DDoS attacks, and intrusions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near real time.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Traditional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signature-based defences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cannot recognise novel, zero-day, or polymorphic attacks.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Security teams receive thousands of alerts daily; excess volume causes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alert fatigue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missed incidents.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Layered, intelligent detection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(anomaly, behaviour, and ML-based) offers an efficient and scalable solution.</a:t>
            </a:r>
          </a:p>
        </p:txBody>
      </p:sp>
      <p:pic>
        <p:nvPicPr>
          <p:cNvPr id="103" name="Picture 102" descr="Effect of alert volume on SOC analyst response effici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000" y="1900000"/>
            <a:ext cx="4350000" cy="25314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Detection Techniques Compared</a:t>
            </a:r>
          </a:p>
        </p:txBody>
      </p:sp>
      <p:sp>
        <p:nvSpPr>
          <p:cNvPr id="104" name="Text Box"/>
          <p:cNvSpPr txBox="1"/>
          <p:nvPr/>
        </p:nvSpPr>
        <p:spPr>
          <a:xfrm>
            <a:off x="500000" y="1300000"/>
            <a:ext cx="6350000" cy="42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Signature-Based: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Matches events against known patterns and hashes.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Limitation: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Misses zero-day and polymorphic attacks.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Anomaly-Based: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Flags deviations from a baseline of normal behaviour.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Limitation: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Higher false-positive rate.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Behaviour-Based (UEBA):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Models user and device action sequences over time.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Limitation: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Needs reliable baselines; costlier to run.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ML-Based: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Supervised and unsupervised models adapt to unseen attacks.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Limitation: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Depends on data quality; hard to interpret.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No single technique is enough; a </a:t>
            </a: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layered combination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works best.</a:t>
            </a:r>
          </a:p>
        </p:txBody>
      </p:sp>
      <p:pic>
        <p:nvPicPr>
          <p:cNvPr id="105" name="Picture 104" descr="Taxonomy of cybersecurity threat detection techniqu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700000"/>
            <a:ext cx="5100000" cy="3207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System Architecture: How It Works</a:t>
            </a:r>
          </a:p>
        </p:txBody>
      </p:sp>
      <p:sp>
        <p:nvSpPr>
          <p:cNvPr id="106" name="Text Box"/>
          <p:cNvSpPr txBox="1"/>
          <p:nvPr/>
        </p:nvSpPr>
        <p:spPr>
          <a:xfrm>
            <a:off x="612140" y="1330000"/>
            <a:ext cx="10800000" cy="27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Core Idea: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Telemetry from networks, endpoints, and logs is turned into features and scored by a detection engine to raise prioritised alerts.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Method: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Collect: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live network, endpoint, and log telemetry.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Pre-process: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convert raw data into features (flow duration, byte counts, protocol flags).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Detect: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 trained model (or signature engine) scores each event for likelihood of malicious intent.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Alert &amp; Learn: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 risk-scored alert is raised (or traffic is blocked in IPS mode); analyst verdicts retrain the model.</a:t>
            </a:r>
          </a:p>
        </p:txBody>
      </p:sp>
      <p:pic>
        <p:nvPicPr>
          <p:cNvPr id="107" name="Picture 106" descr="Machine learning based threat detection 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954" y="4100000"/>
            <a:ext cx="5689046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Pushing Capability Further: SIEM</a:t>
            </a:r>
          </a:p>
        </p:txBody>
      </p:sp>
      <p:sp>
        <p:nvSpPr>
          <p:cNvPr id="108" name="Text Box"/>
          <p:cNvSpPr txBox="1"/>
          <p:nvPr/>
        </p:nvSpPr>
        <p:spPr>
          <a:xfrm>
            <a:off x="612140" y="1330000"/>
            <a:ext cx="10800000" cy="27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Move beyond isolated sensor alerts toward correlated, intelligence-driven detection.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Method: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 SIEM adds two capabilities on top of individual sensors: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Log Collection &amp; Correlation: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aggregates logs from firewalls, IDS/IPS, endpoints, identity, and cloud; rules and ML link weak events into a multi-stage attack picture.</a:t>
            </a: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Threat Intelligence: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IoCs, MITRE ATT&amp;CK, and CISA advisories keep detection logic ahead of emerging campaigns.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Prioritised alerts, case management, and SOAR playbooks enable fast, largely automated response.</a:t>
            </a:r>
          </a:p>
        </p:txBody>
      </p:sp>
      <p:pic>
        <p:nvPicPr>
          <p:cNvPr id="109" name="Picture 108" descr="SIEM architecture with multi-source log correlation and aler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737" y="4100000"/>
            <a:ext cx="5076263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Performance Comparison</a:t>
            </a:r>
          </a:p>
        </p:txBody>
      </p:sp>
      <p:sp>
        <p:nvSpPr>
          <p:cNvPr id="112" name="Text Box"/>
          <p:cNvSpPr txBox="1"/>
          <p:nvPr/>
        </p:nvSpPr>
        <p:spPr>
          <a:xfrm>
            <a:off x="612140" y="1300000"/>
            <a:ext cx="695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ROC curves plot detection rate against false-positive rate; a curve nearer the top-left is a better detector.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Signature-Based: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Low false positives and low cost, but cannot detect unknown threats.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Anomaly / Behaviour-Based: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Detect unseen and insider threats, with moderate to high false-positive tendency.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ML Hybrid: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Best trade-off when well tuned, but higher compute cost and lower explainability.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Curves are </a:t>
            </a:r>
            <a:r>
              <a:rPr lang="en-US" alt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conceptual illustrations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not measured results.</a:t>
            </a:r>
          </a:p>
        </p:txBody>
      </p:sp>
      <p:pic>
        <p:nvPicPr>
          <p:cNvPr id="113" name="Picture 112" descr="Illustrative ROC-curve comparison of detection approa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00" y="1500000"/>
            <a:ext cx="4250000" cy="3619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Real-World Applications</a:t>
            </a:r>
          </a:p>
        </p:txBody>
      </p:sp>
      <p:sp>
        <p:nvSpPr>
          <p:cNvPr id="114" name="Text Box"/>
          <p:cNvSpPr txBox="1"/>
          <p:nvPr/>
        </p:nvSpPr>
        <p:spPr>
          <a:xfrm>
            <a:off x="523240" y="1250000"/>
            <a:ext cx="105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Enterprise IT &amp; Cloud: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SIEM and cloud-native detection monitor identity, network, and workload activity across hybrid and multi-cloud environments.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Banking &amp; Finance: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Real-time transaction monitoring combines rules with behavioural analytics to detect fraud and account takeover.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Critical Infrastructure (ICS/OT):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Anomaly detection protects power grids, water treatment, and manufacturing, where availability and safety come first.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Healthcare: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Protects health records and connected medical devices from ransomware and unauthorised access.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Government &amp; Defence: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CERTs and agencies such as CISA coordinate threat-intelligence sharing and incident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Discussion: Challenges &amp; Future Work</a:t>
            </a:r>
          </a:p>
        </p:txBody>
      </p:sp>
      <p:pic>
        <p:nvPicPr>
          <p:cNvPr id="118" name="Picture 117" descr="False positive vs false negative trade-off in detection threshol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250000"/>
            <a:ext cx="5300000" cy="3709114"/>
          </a:xfrm>
          <a:prstGeom prst="rect">
            <a:avLst/>
          </a:prstGeom>
        </p:spPr>
      </p:pic>
      <p:sp>
        <p:nvSpPr>
          <p:cNvPr id="118" name="Text Box"/>
          <p:cNvSpPr txBox="1"/>
          <p:nvPr/>
        </p:nvSpPr>
        <p:spPr>
          <a:xfrm>
            <a:off x="5750000" y="1250000"/>
            <a:ext cx="6250000" cy="50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False positives vs. false negatives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must be balanced; alert fatigue overloads analysts.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Adversarial evasion, zero-days, encrypted traffic, and privacy limits reduce visibility.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APTs, ransomware, and supply-chain attacks evade short-duration anomaly detection.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Future Directions: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SOAR: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Automated playbooks cut response time from hours to seconds for known patterns.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Explainable AI: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Shows which features drive an alert, building analyst trust.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Collaborative Threat Intelligence: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ISACs, CISA, and MITRE ATT&amp;CK shorten time-to-detection.</a:t>
            </a:r>
          </a:p>
          <a:p>
            <a:pPr marL="685800" indent="-2286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–"/>
            </a:pPr>
            <a:r>
              <a:rPr lang="en-US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Adaptive, self-tuning detection</a:t>
            </a: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driven by analyst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120" name="Text Box"/>
          <p:cNvSpPr txBox="1"/>
          <p:nvPr/>
        </p:nvSpPr>
        <p:spPr>
          <a:xfrm>
            <a:off x="642620" y="1250000"/>
            <a:ext cx="10400000" cy="4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Threat detection is a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layered discipline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signatures for known threats, anomaly and behavioural analytics for novel and insider threats, and ML for adaptability and scale.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IDS/IPS, SIEM, and threat intelligence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correlate weak signals into prioritised incidents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; SOAR, explainable AI, and shared intelligence address alert fatigue and evasion.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Resilient security needs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human oversight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alignment with standards such as the NIST Cybersecurity Framework, and continuous adaptation to evolving threats.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References</a:t>
            </a:r>
          </a:p>
        </p:txBody>
      </p:sp>
      <p:sp>
        <p:nvSpPr>
          <p:cNvPr id="122" name="Text Box"/>
          <p:cNvSpPr txBox="1"/>
          <p:nvPr/>
        </p:nvSpPr>
        <p:spPr>
          <a:xfrm>
            <a:off x="900000" y="1250000"/>
            <a:ext cx="10700000" cy="43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V. Chandola, A. Banerjee, and V. Kumar,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Anomaly Detection: A Survey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ACM Computing Surveys, vol. 41, no. 3, art. 15, 2009.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P. Garcia-Teodoro et al.,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Anomaly-based network intrusion detection: Techniques, systems and challenges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Computers &amp; Security, vol. 28, no. 1–2, pp. 18–28, 2009.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R. Sommer and V. Paxson,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Outside the Closed World: On Using Machine Learning for Network Intrusion Detection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IEEE Symp. Security and Privacy, 2010, pp. 305–316.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A. L. Buczak and E. Guven,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 Survey of Data Mining and Machine Learning Methods for Cyber Security Intrusion Detection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IEEE Commun. Surveys &amp; Tutorials, vol. 18, no. 2, pp. 1153–1176, 2016.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K. Scarfone and P. Mell, 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Guide to Intrusion Detection and Prevention Systems (IDPS)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NIST SP 800-94, 2007.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P. Cichonski et al., 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Computer Security Incident Handling Guide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NIST SP 800-61 Rev. 2, 2012.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NIST, 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The NIST Cybersecurity Framework (CSF) 2.0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U.S. Department of Commerce, 2024.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MITRE Corporation,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MITRE ATT&amp;CK Framework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attack.mitre.org, accessed 2026.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CISA, “</a:t>
            </a:r>
            <a:r>
              <a:rPr lang="en-US" alt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Cyber Threats and Advisories</a:t>
            </a:r>
            <a:r>
              <a:rPr lang="en-US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,” cisa.gov, accessed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14980" y="2342515"/>
            <a:ext cx="6162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Comic Sans MS" panose="030F0702030302020204" charset="0"/>
                <a:cs typeface="Comic Sans MS" panose="030F0702030302020204" charset="0"/>
              </a:rPr>
              <a:t>THANK YOU</a:t>
            </a:r>
          </a:p>
          <a:p>
            <a:pPr algn="ctr"/>
            <a:r>
              <a:rPr lang="en-IN" sz="7200" dirty="0"/>
              <a:t>Questions?</a:t>
            </a:r>
            <a:endParaRPr lang="en-US" sz="7200" b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Deployment: IDS vs. IPS vs. SIEM</a:t>
            </a:r>
          </a:p>
        </p:txBody>
      </p:sp>
      <p:sp>
        <p:nvSpPr>
          <p:cNvPr id="110" name="Text Box"/>
          <p:cNvSpPr txBox="1"/>
          <p:nvPr/>
        </p:nvSpPr>
        <p:spPr>
          <a:xfrm>
            <a:off x="612140" y="1330000"/>
            <a:ext cx="10800000" cy="27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IDS: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Out-of-band (TAP/SPAN) or host agent;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detects and alerts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only (e.g., Snort, Suricata, Zeek).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IPS: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Inline in the traffic path;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detects and blocks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but false positives may block legitimate traffic.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SIEM: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Central platform that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aggregates and correlates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logs; response via SOAR (e.g., Splunk, Wazuh).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Network-based (NIDS/NIPS)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gives broad visibility but limited insight into encrypted traffic;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host-based (HIDS/HIPS)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gives deep endpoint visibility but needs agents.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Mature architectures deploy both in a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layered, defence-in-depth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design.</a:t>
            </a:r>
          </a:p>
        </p:txBody>
      </p:sp>
      <p:pic>
        <p:nvPicPr>
          <p:cNvPr id="111" name="Picture 110" descr="Layered deployment of network-based and host-based IDS/I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591" y="4100000"/>
            <a:ext cx="5103409" cy="25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Title Text"/>
          <p:cNvSpPr txBox="1"/>
          <p:nvPr/>
        </p:nvSpPr>
        <p:spPr>
          <a:xfrm>
            <a:off x="612140" y="380000"/>
            <a:ext cx="9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Illustrative Scenarios</a:t>
            </a:r>
          </a:p>
        </p:txBody>
      </p:sp>
      <p:sp>
        <p:nvSpPr>
          <p:cNvPr id="116" name="Text Box"/>
          <p:cNvSpPr txBox="1"/>
          <p:nvPr/>
        </p:nvSpPr>
        <p:spPr>
          <a:xfrm>
            <a:off x="612140" y="1330000"/>
            <a:ext cx="10800000" cy="27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Ransomware Precursor: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After a phishing foothold, UEBA flags unusual file-share access from an atypical host; the SIEM correlates it with a process-injection alert, and the SOC isolates the host before encryption begins.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Volumetric DDoS: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Sensors spot a request surge against baseline; the SIEM confirms service degradation, and a SOAR playbook applies rate-limiting and traffic scrubbing.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Incident Response (NIST SP 800-61):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Detection is only stage two of the lifecycle; lessons learned feed back into rules and playbooks.</a:t>
            </a:r>
          </a:p>
        </p:txBody>
      </p:sp>
      <p:pic>
        <p:nvPicPr>
          <p:cNvPr id="117" name="Picture 116" descr="End-to-end incident response 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79" y="4100000"/>
            <a:ext cx="5437821" cy="25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Threat Detection - Seminar Presentation</dc:title>
  <dc:creator>Kalyani R. Darekar</dc:creator>
  <cp:lastModifiedBy>Kalyani R. Darekar</cp:lastModifiedBy>
  <cp:revision>8</cp:revision>
  <dcterms:created xsi:type="dcterms:W3CDTF">2023-12-20T13:36:00Z</dcterms:created>
  <dcterms:modified xsi:type="dcterms:W3CDTF">2025-10-10T05:28:57Z</dcterms:modified>
  <dc:subject>Seminar, Dr. D. Y. Patil College of Engineering and Innovation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C2736AD489EF45E0B3442A30826E809A_13</vt:lpwstr>
  </property>
  <property fmtid="{D5CDD505-2E9C-101B-9397-08002B2CF9AE}" pid="3" name="KSOProductBuildVer">
    <vt:lpwstr>2057-12.2.0.21936</vt:lpwstr>
  </property>
</Properties>
</file>